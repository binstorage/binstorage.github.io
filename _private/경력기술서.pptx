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</p:sldIdLst>
  <p:sldSz cy="5143500" cx="9144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Poppins Light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Montserrat-regular.fntdata"/><Relationship Id="rId36" Type="http://schemas.openxmlformats.org/officeDocument/2006/relationships/font" Target="fonts/Montserrat-bold.fntdata"/><Relationship Id="rId37" Type="http://schemas.openxmlformats.org/officeDocument/2006/relationships/font" Target="fonts/Montserrat-italic.fntdata"/><Relationship Id="rId38" Type="http://schemas.openxmlformats.org/officeDocument/2006/relationships/font" Target="fonts/Montserrat-boldItalic.fntdata"/><Relationship Id="rId39" Type="http://schemas.openxmlformats.org/officeDocument/2006/relationships/font" Target="fonts/PoppinsLight-regular.fntdata"/><Relationship Id="rId40" Type="http://schemas.openxmlformats.org/officeDocument/2006/relationships/font" Target="fonts/PoppinsLight-bold.fntdata"/><Relationship Id="rId41" Type="http://schemas.openxmlformats.org/officeDocument/2006/relationships/font" Target="fonts/PoppinsLight-italic.fntdata"/><Relationship Id="rId42" Type="http://schemas.openxmlformats.org/officeDocument/2006/relationships/font" Target="fonts/PoppinsLight-boldItalic.fntdata"/><Relationship Id="rId43" Type="http://schemas.openxmlformats.org/officeDocument/2006/relationships/font" Target="fonts/PoppinsMedium-regular.fntdata"/><Relationship Id="rId44" Type="http://schemas.openxmlformats.org/officeDocument/2006/relationships/font" Target="fonts/PoppinsMedium-bold.fntdata"/><Relationship Id="rId45" Type="http://schemas.openxmlformats.org/officeDocument/2006/relationships/font" Target="fonts/PoppinsMedium-italic.fntdata"/><Relationship Id="rId46" Type="http://schemas.openxmlformats.org/officeDocument/2006/relationships/font" Target="fonts/Poppins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267200" y="1529250"/>
            <a:ext cx="4505400" cy="2085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-19125" y="150"/>
            <a:ext cx="3656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6199925" y="3926050"/>
            <a:ext cx="2429700" cy="6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700"/>
              <a:buFont typeface="Poppins Light"/>
              <a:buNone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r">
              <a:spcBef>
                <a:spcPts val="800"/>
              </a:spcBef>
              <a:spcAft>
                <a:spcPts val="8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0"/>
            <a:ext cx="5471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514350" y="514350"/>
            <a:ext cx="4486200" cy="13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 Medium"/>
              <a:buNone/>
              <a:defRPr b="0" sz="4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514300" y="3936475"/>
            <a:ext cx="8115300" cy="8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6550" lvl="0" marL="457200" rtl="0" algn="r">
              <a:spcBef>
                <a:spcPts val="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36550" lvl="1" marL="9144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6550" lvl="2" marL="13716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36550" lvl="3" marL="18288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36550" lvl="4" marL="22860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36550" lvl="5" marL="27432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36550" lvl="6" marL="32004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36550" lvl="7" marL="36576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36550" lvl="8" marL="4114800" rtl="0" algn="r">
              <a:spcBef>
                <a:spcPts val="800"/>
              </a:spcBef>
              <a:spcAft>
                <a:spcPts val="80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" name="Google Shape;19;p4"/>
          <p:cNvCxnSpPr/>
          <p:nvPr/>
        </p:nvCxnSpPr>
        <p:spPr>
          <a:xfrm>
            <a:off x="514350" y="3737036"/>
            <a:ext cx="81153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4"/>
          <p:cNvSpPr txBox="1"/>
          <p:nvPr>
            <p:ph type="title"/>
          </p:nvPr>
        </p:nvSpPr>
        <p:spPr>
          <a:xfrm>
            <a:off x="533400" y="2108675"/>
            <a:ext cx="5791200" cy="142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14350" y="2690825"/>
            <a:ext cx="68772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514350" y="2538434"/>
            <a:ext cx="68580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514350" y="2690825"/>
            <a:ext cx="32244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191226" y="2690825"/>
            <a:ext cx="32244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cxnSp>
        <p:nvCxnSpPr>
          <p:cNvPr id="30" name="Google Shape;30;p6"/>
          <p:cNvCxnSpPr/>
          <p:nvPr/>
        </p:nvCxnSpPr>
        <p:spPr>
          <a:xfrm>
            <a:off x="514350" y="2538434"/>
            <a:ext cx="32004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6"/>
          <p:cNvCxnSpPr/>
          <p:nvPr/>
        </p:nvCxnSpPr>
        <p:spPr>
          <a:xfrm>
            <a:off x="4191225" y="2538434"/>
            <a:ext cx="32004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14350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2950624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3" type="body"/>
          </p:nvPr>
        </p:nvSpPr>
        <p:spPr>
          <a:xfrm>
            <a:off x="5386899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7" name="Google Shape;37;p7"/>
          <p:cNvCxnSpPr/>
          <p:nvPr/>
        </p:nvCxnSpPr>
        <p:spPr>
          <a:xfrm>
            <a:off x="514350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7"/>
          <p:cNvCxnSpPr/>
          <p:nvPr/>
        </p:nvCxnSpPr>
        <p:spPr>
          <a:xfrm>
            <a:off x="2950632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7"/>
          <p:cNvCxnSpPr/>
          <p:nvPr/>
        </p:nvCxnSpPr>
        <p:spPr>
          <a:xfrm>
            <a:off x="5386914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418250" y="2002425"/>
            <a:ext cx="6307500" cy="115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 Medium"/>
              <a:buNone/>
              <a:defRPr b="0" sz="4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855300" y="4406300"/>
            <a:ext cx="74334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800"/>
              </a:spcAft>
              <a:buSzPts val="1800"/>
              <a:buFont typeface="Poppins Light"/>
              <a:buNone/>
              <a:defRPr sz="1800"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Medium"/>
              <a:buNone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55300" y="15063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36550" lvl="1" marL="914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6550" lvl="2" marL="1371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36550" lvl="3" marL="18288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36550" lvl="4" marL="2286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36550" lvl="5" marL="2743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36550" lvl="6" marL="3200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36550" lvl="7" marL="3657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36550" lvl="8" marL="41148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oppins Medium"/>
              </a:rPr>
              <a:t>안광빈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oppins Light"/>
              </a:rPr>
              <a:t>경력 기술서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AA"/>
                </a:solidFill>
                <a:latin typeface="Poppins Light"/>
              </a:rPr>
              <a:t>macOS, iOS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572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Poppins Medium"/>
              </a:rPr>
              <a:t>경력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758952"/>
            <a:ext cx="82550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91840" y="896112"/>
          <a:ext cx="548640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109728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회사명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직책/직급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담당 업무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2023.04 - 현재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프라이빗테크놀로지(주)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연구소 주임연구원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iOS/macOS 보안 에이전트 개발 (정보보안, 클라이언트)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2020.12 - 2022.02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제이엠트루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개발연구소 연구원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 앱 개발 및 배포 (앱개발자)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경력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74295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67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2023.04 - 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연구소 주임연구원 · 개발연구소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612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업무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 에이전트 개발 및 App Store, Enterprise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macOS 에이전트, 데몬 개발 및 Installer(package)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제로트러스트 기반 네트워크 보안 솔루션(SASE)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주요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95144"/>
            <a:ext cx="7589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macOS/iOS PacketGO Switch 에이전트 신규 개발 및 출시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UI/UX 성능 향상 - Animation Hitch 약 60% 감소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보안 기능 확인서 iOS, macOS 취득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KISA 실증 완료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CSAP 인증(시큐어 코딩) 대응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TCA, Clean Architecture 도입을 제안하여 팀 개발 프로세스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804672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제이엠트루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365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2020.12 - 2022.02 (1년 3개월)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개발연구소 연구원 · 앱개발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5953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업무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06424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 앱 개발 및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공공데이터 API 연동 및 데이터 처리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앱스토어 배포 및 출시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주요 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500명 이상의 사용자 회원가입 결과물 도출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프로젝트 이력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04013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macOS 제로트러스트 기반 SASE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67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2025.05 - 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61288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macOS 환경 제로트러스트 기반 SASE(Secure Access Service Edge)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6420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강화된 패킷 제어 - 패킷 정보 수집의 변화, 패킷 제어에 대한 로직 변화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테스트 및 유지보수를 위한 모듈화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아키텍처 설계 (TCA, Clean Architecture)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32888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60322" y="2532888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8624" y="2532888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9426" y="2532888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8728" y="2532888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8030" y="2532888"/>
            <a:ext cx="1803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System Extension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25496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3322" y="2825496"/>
            <a:ext cx="1327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DeveloperID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03624" y="2825496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Packaging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3426" y="2825496"/>
            <a:ext cx="2089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Daemon (privileged)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18104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Command Line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3322" y="3118104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XPC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41624" y="3118104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 Package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2426" y="3118104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Framework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2228" y="3118104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TCA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PacketGO Switch 고도화 및 유지보수,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2024.05 - 현재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제로트러스트 기반 네트워크 보안 에이전트 PacketGO Switch의 기능 고도화 및 고객사 POC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사용자 통제, 보안 환경 기능 고도화 (IPv6, 스크린 세이버, 방화벽 등)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UI/UX 성능 향상 - 많은 양의 패킷 제어 시 기록된 정보 업데이트에 대한 UX 성능 저하 해결 (멀티 스레딩, UI 컴포넌트 변경)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고객사 POC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93976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Animation Hitch 약 60%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804672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PacketGO Switch 보안 기능 확인서 취득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560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2024.01 - 2024.05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5409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PacketGO Switch 보안 기능 확인서 iOS, macOS 취득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101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5701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보안 기능 확인서 iOS, macOS 타겟 OS에 맞는 에이전트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타겟 OS 버전이 제품 OS 버전보다 낮은 이유로 프레임워크 변경 및 개발 (SwiftUI → UIKit, AppKit)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macOS PacketGO Switch 에이전트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2023.06 - 2023.11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macOS 환경 제로트러스트 기반 네트워크 보안 에이전트 PacketGO Switch 신규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iOS, macOS 통합 UI 개발을 위한 SwiftUI 기반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패킷 제어 모듈(C++ 기반) 개발, Swift 호환성 설계 (Swift ↔ Objc-C++ ↔ C++)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VPN 모듈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사용자 통제 및 환경 제어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비 샌드박스 패키징 및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KISA 실증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4261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0322" y="2642616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8624" y="264261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9426" y="2642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8728" y="2642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8030" y="2642616"/>
            <a:ext cx="1803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System Extension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35224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3322" y="2935224"/>
            <a:ext cx="1327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DeveloperID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3624" y="2935224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Packaging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3426" y="2935224"/>
            <a:ext cx="2089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Daemon (privileged)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27832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Command Line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3322" y="3227832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XPC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iOS PacketGO Switch 에이전트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2023.06 - 2023.11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iOS 환경 제로트러스트 기반 네트워크 보안 에이전트 PacketGO Switch 신규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iOS, macOS 통합 UI 개발을 위한 SwiftUI 기반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패킷 제어 모듈(C++ 기반) 개발, Swift 호환성 설계 (Swift ↔ Objc-C++ ↔ C++)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VPN 모듈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KISA 실증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768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0322" y="2276856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8624" y="227685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9426" y="227685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8728" y="227685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8030" y="227685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App Extension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9464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QR 인증 iOS 에이전트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2023.04 - 2023.10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타 OS 환경 사용자 인증을 위한 QR 인증 방식을 지원하는 iOS 에이전트 개발 및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 개발 및 비즈니스 로직 구현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앱스토어 배포 및 유지보수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엔터프라이즈 배포 및 유지보수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CSAP 인증(시큐어 코딩)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768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0322" y="227685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9624" y="22768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UIKit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리콜박스 애플리케이션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2021.01 - 2021.11 (약 11개월)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 개발 · 제이엠트루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공공데이터 API를 사용하여 리콜 제품의 정보를 사용자에게 제공하고, 정보에 대해 사용자들이 커뮤니케이션 할 수 있는 "리콜박스" 애플리케이션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UI/UX 설계 및 화면 구성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공공데이터 API 연동 및 데이터 처리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앱스토어 배포 및 출시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93976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500명 이상의 사용자 회원가입 결과물 도출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9689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60322" y="259689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RxSwift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9624" y="259689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UIKit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ange and White Simple and Basic Resume Simple and Basic Creative Presentation">
  <a:themeElements>
    <a:clrScheme name="Custom 347">
      <a:dk1>
        <a:srgbClr val="000000"/>
      </a:dk1>
      <a:lt1>
        <a:srgbClr val="FFFFFF"/>
      </a:lt1>
      <a:dk2>
        <a:srgbClr val="E4793C"/>
      </a:dk2>
      <a:lt2>
        <a:srgbClr val="CCCCCC"/>
      </a:lt2>
      <a:accent1>
        <a:srgbClr val="C85103"/>
      </a:accent1>
      <a:accent2>
        <a:srgbClr val="E4A63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4793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