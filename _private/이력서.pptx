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21"/>
    <p:sldId id="257" r:id="rId22"/>
    <p:sldId id="258" r:id="rId23"/>
    <p:sldId id="259" r:id="rId24"/>
  </p:sldIdLst>
  <p:sldSz cy="5143500" cx="9144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Poppins Light"/>
      <p:regular r:id="rId39"/>
      <p:bold r:id="rId40"/>
      <p:italic r:id="rId41"/>
      <p:boldItalic r:id="rId42"/>
    </p:embeddedFont>
    <p:embeddedFont>
      <p:font typeface="Poppins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Montserrat-regular.fntdata"/><Relationship Id="rId36" Type="http://schemas.openxmlformats.org/officeDocument/2006/relationships/font" Target="fonts/Montserrat-bold.fntdata"/><Relationship Id="rId37" Type="http://schemas.openxmlformats.org/officeDocument/2006/relationships/font" Target="fonts/Montserrat-italic.fntdata"/><Relationship Id="rId38" Type="http://schemas.openxmlformats.org/officeDocument/2006/relationships/font" Target="fonts/Montserrat-boldItalic.fntdata"/><Relationship Id="rId39" Type="http://schemas.openxmlformats.org/officeDocument/2006/relationships/font" Target="fonts/PoppinsLight-regular.fntdata"/><Relationship Id="rId40" Type="http://schemas.openxmlformats.org/officeDocument/2006/relationships/font" Target="fonts/PoppinsLight-bold.fntdata"/><Relationship Id="rId41" Type="http://schemas.openxmlformats.org/officeDocument/2006/relationships/font" Target="fonts/PoppinsLight-italic.fntdata"/><Relationship Id="rId42" Type="http://schemas.openxmlformats.org/officeDocument/2006/relationships/font" Target="fonts/PoppinsLight-boldItalic.fntdata"/><Relationship Id="rId43" Type="http://schemas.openxmlformats.org/officeDocument/2006/relationships/font" Target="fonts/PoppinsMedium-regular.fntdata"/><Relationship Id="rId44" Type="http://schemas.openxmlformats.org/officeDocument/2006/relationships/font" Target="fonts/PoppinsMedium-bold.fntdata"/><Relationship Id="rId45" Type="http://schemas.openxmlformats.org/officeDocument/2006/relationships/font" Target="fonts/PoppinsMedium-italic.fntdata"/><Relationship Id="rId46" Type="http://schemas.openxmlformats.org/officeDocument/2006/relationships/font" Target="fonts/Poppins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267200" y="1529250"/>
            <a:ext cx="4505400" cy="2085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-19125" y="150"/>
            <a:ext cx="3656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6199925" y="3926050"/>
            <a:ext cx="2429700" cy="6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700"/>
              <a:buFont typeface="Poppins Light"/>
              <a:buNone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r">
              <a:spcBef>
                <a:spcPts val="800"/>
              </a:spcBef>
              <a:spcAft>
                <a:spcPts val="8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0"/>
            <a:ext cx="5471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514350" y="514350"/>
            <a:ext cx="4486200" cy="13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 Medium"/>
              <a:buNone/>
              <a:defRPr b="0" sz="4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514300" y="3936475"/>
            <a:ext cx="8115300" cy="8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6550" lvl="0" marL="457200" rtl="0" algn="r">
              <a:spcBef>
                <a:spcPts val="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36550" lvl="1" marL="9144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36550" lvl="2" marL="13716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36550" lvl="3" marL="18288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36550" lvl="4" marL="22860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36550" lvl="5" marL="27432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36550" lvl="6" marL="32004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36550" lvl="7" marL="36576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36550" lvl="8" marL="4114800" rtl="0" algn="r">
              <a:spcBef>
                <a:spcPts val="800"/>
              </a:spcBef>
              <a:spcAft>
                <a:spcPts val="80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" name="Google Shape;19;p4"/>
          <p:cNvCxnSpPr/>
          <p:nvPr/>
        </p:nvCxnSpPr>
        <p:spPr>
          <a:xfrm>
            <a:off x="514350" y="3737036"/>
            <a:ext cx="81153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4"/>
          <p:cNvSpPr txBox="1"/>
          <p:nvPr>
            <p:ph type="title"/>
          </p:nvPr>
        </p:nvSpPr>
        <p:spPr>
          <a:xfrm>
            <a:off x="533400" y="2108675"/>
            <a:ext cx="5791200" cy="142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14350" y="2690825"/>
            <a:ext cx="68772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514350" y="2538434"/>
            <a:ext cx="68580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514350" y="2690825"/>
            <a:ext cx="32244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191226" y="2690825"/>
            <a:ext cx="32244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cxnSp>
        <p:nvCxnSpPr>
          <p:cNvPr id="30" name="Google Shape;30;p6"/>
          <p:cNvCxnSpPr/>
          <p:nvPr/>
        </p:nvCxnSpPr>
        <p:spPr>
          <a:xfrm>
            <a:off x="514350" y="2538434"/>
            <a:ext cx="32004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6"/>
          <p:cNvCxnSpPr/>
          <p:nvPr/>
        </p:nvCxnSpPr>
        <p:spPr>
          <a:xfrm>
            <a:off x="4191225" y="2538434"/>
            <a:ext cx="32004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14350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2950624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3" type="body"/>
          </p:nvPr>
        </p:nvSpPr>
        <p:spPr>
          <a:xfrm>
            <a:off x="5386899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37" name="Google Shape;37;p7"/>
          <p:cNvCxnSpPr/>
          <p:nvPr/>
        </p:nvCxnSpPr>
        <p:spPr>
          <a:xfrm>
            <a:off x="514350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7"/>
          <p:cNvCxnSpPr/>
          <p:nvPr/>
        </p:nvCxnSpPr>
        <p:spPr>
          <a:xfrm>
            <a:off x="2950632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7"/>
          <p:cNvCxnSpPr/>
          <p:nvPr/>
        </p:nvCxnSpPr>
        <p:spPr>
          <a:xfrm>
            <a:off x="5386914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1418250" y="2002425"/>
            <a:ext cx="6307500" cy="115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 Medium"/>
              <a:buNone/>
              <a:defRPr b="0" sz="4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855300" y="4406300"/>
            <a:ext cx="74334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800"/>
              </a:spcAft>
              <a:buSzPts val="1800"/>
              <a:buFont typeface="Poppins Light"/>
              <a:buNone/>
              <a:defRPr sz="1800"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Medium"/>
              <a:buNone/>
              <a:defRPr sz="3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55300" y="1506347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65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36550" lvl="1" marL="914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36550" lvl="2" marL="1371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36550" lvl="3" marL="18288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36550" lvl="4" marL="2286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36550" lvl="5" marL="2743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36550" lvl="6" marL="3200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36550" lvl="7" marL="3657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36550" lvl="8" marL="41148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oppins Medium"/>
              </a:rPr>
              <a:t>안광빈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oppins Light"/>
              </a:rPr>
              <a:t>macOS, iOS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AA77"/>
                </a:solidFill>
                <a:latin typeface="Poppins Light"/>
              </a:rPr>
              <a:t>────────────────────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 Light"/>
              </a:rPr>
              <a:t>☎  010-3499-5636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 Light"/>
              </a:rPr>
              <a:t>✉  rhkdqlsdml10@gmail.com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 Light"/>
              </a:rPr>
              <a:t>⌂  서울 동작구 신대방동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자기소개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621792"/>
            <a:ext cx="59436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758952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"그냥 해봐 할 수 있어!" 가장 제가 좋아하는 말입니다.
[네트워크 보안 및 크로스플랫폼 개발]
현재 제로트러스트 기반 네트워크 보안 회사에서 iOS, macOS 환경의 보안 에이전트를 개발하고 있습니다. Swift, UIKit, RxSwift에서 시작해 SwiftUI, Combine, Extension, Daemon, XPC, VPN, 보안 등으로 영역을 넓혀왔습니다.
[언어 간 호환성에 대한 깊이 있는 이해]
C++ 기반 네트워크 모듈을 Swift에서 호출하기 위해 C++, Objective-C, Objective-C++의 호환성과 컴파일러/링킹 과정까지 깊이 있게 학습했습니다.
[아키텍처 설계 및 모듈화]
모듈화와 아키텍처 설계에 관심이 많아 Tuist, Clean Architecture, TCA를 사이드 프로젝트에서 먼저 적용 후 회사에도 도입했습니다.
[성장성 및 대규모 서비스에 대한 관심]
대규모 서비스에도 관심이 많아 카카오뱅크 등을 참고하여 RIBs, ReactorKit을 사이드 프로젝트에 적용하고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경력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74295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667512"/>
          <a:ext cx="84124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4688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기간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회사명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직책/직급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담당 업무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2023.04 - 현재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프라이빗테크놀로지(주)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연구소 주임연구원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iOS/macOS 보안 에이전트 개발 (SASE)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2020.12 - 2022.02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제이엠트루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개발연구소 연구원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iOS 앱 개발 및 배포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5727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학력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20"/>
            <a:ext cx="45720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84124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기간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학교명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전공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비고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2014.03 - 2021.03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청주대학교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컴퓨터정보공학과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졸업 (3.7/4.5)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2011 - 2014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청석고등학교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졸업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2825496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sz="800">
                <a:solidFill>
                  <a:srgbClr val="666666"/>
                </a:solidFill>
                <a:latin typeface="Poppins Light"/>
              </a:rPr>
              <a:t>졸업작품: 캡스톤 디자인 - 고성능 헬멧 및 애플리케이션 제작 (블루투스, 충격감지, GPS 모듈 연동 iOS 앱 개발)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81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병역사항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59436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520440"/>
          <a:ext cx="8412480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기간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군별/계급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비고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군필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2015.08 - 2017.05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육군 병장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제대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자격증 / 수상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8872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667512"/>
          <a:ext cx="8412480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취득일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자격증/수상명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발급기관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2020년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공공데이터 활용 제품 및 서비스 장려상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충북과학기술혁신원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122529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sz="800">
                <a:solidFill>
                  <a:srgbClr val="666666"/>
                </a:solidFill>
                <a:latin typeface="Poppins Light"/>
              </a:rPr>
              <a:t>착한가격 업소 정보를 공공데이터 API로 제공하는 서비스 앱 개발 (iOS 1명, 디자인 1명). iOS 개발 및 발표 담당. Alamofire를 활용한 공공데이터 API 통신, 내비게이션·리뷰 기능 구현.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4533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인턴 / 대외활동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47088"/>
            <a:ext cx="133731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LAB301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84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2018.12 - 2020.07 (1년 8개월)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5856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학부시절 같은 학과 학부생 5명(Android 2, Backend 1, Design 1, iOS 1)이 팀을 꾸리고 사업자 등록 후 외주/팀프로젝트를 진행. 크몽, 오투잡 등 프리랜서 업체에 등록하여 앱스토어 배포, 구동 영상 프로토타입 등 약 5개 프로젝트 수행. 외주 프로젝트 중 2개를 앱스토어 배포하여 사용자 100명+ 가입 달성.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74295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6751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5103"/>
                </a:solidFill>
                <a:latin typeface="Poppins Medium"/>
              </a:rPr>
              <a:t>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60322" y="914400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C++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8624" y="914400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Objective-C++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5103"/>
                </a:solidFill>
                <a:latin typeface="Poppins Medium"/>
              </a:rPr>
              <a:t>Framework /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99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0822" y="149961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UIKit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9624" y="1499616"/>
            <a:ext cx="8509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AppKit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3676" y="1499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2978" y="1499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RxSwift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2280" y="1499616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TCA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0582" y="1499616"/>
            <a:ext cx="12319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ReactorKit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83794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5103"/>
                </a:solidFill>
                <a:latin typeface="Poppins Medium"/>
              </a:rPr>
              <a:t>Apple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084832"/>
            <a:ext cx="18034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System Extension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8072" y="2084832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Network Extension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9874" y="2084832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App Extension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0676" y="2084832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XPC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8978" y="2084832"/>
            <a:ext cx="8509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Daemon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377440"/>
            <a:ext cx="1327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DeveloperID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7157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5103"/>
                </a:solidFill>
                <a:latin typeface="Poppins Medium"/>
              </a:rPr>
              <a:t>Tools /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62656"/>
            <a:ext cx="19939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Clean 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98572" y="296265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Tuist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27374" y="2962656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 Package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8176" y="2962656"/>
            <a:ext cx="1136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Packaging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7978" y="2962656"/>
            <a:ext cx="6604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RIBs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ange and White Simple and Basic Resume Simple and Basic Creative Presentation">
  <a:themeElements>
    <a:clrScheme name="Custom 347">
      <a:dk1>
        <a:srgbClr val="000000"/>
      </a:dk1>
      <a:lt1>
        <a:srgbClr val="FFFFFF"/>
      </a:lt1>
      <a:dk2>
        <a:srgbClr val="E4793C"/>
      </a:dk2>
      <a:lt2>
        <a:srgbClr val="CCCCCC"/>
      </a:lt2>
      <a:accent1>
        <a:srgbClr val="C85103"/>
      </a:accent1>
      <a:accent2>
        <a:srgbClr val="E4A63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4793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